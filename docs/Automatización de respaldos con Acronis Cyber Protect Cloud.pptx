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67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0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61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10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23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0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6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73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0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28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07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11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9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mx01-cloud.acronis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Unidad de disco duro con forma de nube con cables">
            <a:extLst>
              <a:ext uri="{FF2B5EF4-FFF2-40B4-BE49-F238E27FC236}">
                <a16:creationId xmlns:a16="http://schemas.microsoft.com/office/drawing/2014/main" id="{3629CFDA-AA55-9993-9B89-E6C1846431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79" r="9091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A3D9A0-B2E1-E468-84A1-BE96ADA28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MX" sz="4600"/>
              <a:t>Automatización de respaldos con Acronis Cyber Protect Cloud.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C6D009-83AD-9905-D44C-4D7E3B25A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r>
              <a:rPr lang="es-MX" sz="2400"/>
              <a:t>Manual de configuración de plan de trabajo.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45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A3017F-5EA7-FBD3-5076-AF2F80C4D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es-MX" sz="4000" dirty="0"/>
              <a:t>Inicio de sesión </a:t>
            </a:r>
            <a:r>
              <a:rPr lang="es-MX" sz="4000"/>
              <a:t>cloud</a:t>
            </a:r>
            <a:endParaRPr lang="es-MX" sz="400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01CE88-57D2-CDA8-4DF0-682D791D1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MX" sz="15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 el navegador de su elección, vamos a ingresar a la consola de administración de Acronis haciendo clic en el siguiente enlace </a:t>
            </a:r>
            <a:r>
              <a:rPr lang="es-MX" sz="1500" u="sng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https://mx01-cloud.acronis.com</a:t>
            </a:r>
            <a:endParaRPr lang="es-MX" sz="1500" u="sng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s-MX" sz="1500" u="sng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500" i="1" kern="1200">
                <a:effectLst/>
                <a:latin typeface="+mn-lt"/>
                <a:ea typeface="+mn-ea"/>
                <a:cs typeface="+mn-cs"/>
              </a:rPr>
              <a:t>Una </a:t>
            </a:r>
            <a:r>
              <a:rPr lang="en-US" sz="1500" i="1" kern="1200" err="1">
                <a:effectLst/>
                <a:latin typeface="+mn-lt"/>
                <a:ea typeface="+mn-ea"/>
                <a:cs typeface="+mn-cs"/>
              </a:rPr>
              <a:t>vez</a:t>
            </a:r>
            <a:r>
              <a:rPr lang="en-US" sz="1500" i="1" kern="1200"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500" i="1" kern="1200" err="1">
                <a:effectLst/>
                <a:latin typeface="+mn-lt"/>
                <a:ea typeface="+mn-ea"/>
                <a:cs typeface="+mn-cs"/>
              </a:rPr>
              <a:t>ingresemos</a:t>
            </a:r>
            <a:r>
              <a:rPr lang="en-US" sz="1500" i="1" kern="1200"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500" i="1" kern="1200" err="1">
                <a:effectLst/>
                <a:latin typeface="+mn-lt"/>
                <a:ea typeface="+mn-ea"/>
                <a:cs typeface="+mn-cs"/>
              </a:rPr>
              <a:t>vamos</a:t>
            </a:r>
            <a:r>
              <a:rPr lang="en-US" sz="1500" i="1" kern="1200"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500" i="1" kern="1200" err="1">
                <a:effectLst/>
                <a:latin typeface="+mn-lt"/>
                <a:ea typeface="+mn-ea"/>
                <a:cs typeface="+mn-cs"/>
              </a:rPr>
              <a:t>colocar</a:t>
            </a:r>
            <a:r>
              <a:rPr lang="en-US" sz="1500" i="1" kern="1200"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500" i="1" kern="1200" err="1">
                <a:effectLst/>
                <a:latin typeface="+mn-lt"/>
                <a:ea typeface="+mn-ea"/>
                <a:cs typeface="+mn-cs"/>
              </a:rPr>
              <a:t>el</a:t>
            </a:r>
            <a:r>
              <a:rPr lang="en-US" sz="1500" i="1" kern="1200"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500" i="1" kern="1200" err="1">
                <a:effectLst/>
                <a:latin typeface="+mn-lt"/>
                <a:ea typeface="+mn-ea"/>
                <a:cs typeface="+mn-cs"/>
              </a:rPr>
              <a:t>correo</a:t>
            </a:r>
            <a:r>
              <a:rPr lang="en-US" sz="1500" i="1" kern="1200"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500" i="1" kern="1200" err="1">
                <a:effectLst/>
                <a:latin typeface="+mn-lt"/>
                <a:ea typeface="+mn-ea"/>
                <a:cs typeface="+mn-cs"/>
              </a:rPr>
              <a:t>registrado</a:t>
            </a:r>
            <a:r>
              <a:rPr lang="en-US" sz="1500" i="1" kern="1200">
                <a:effectLst/>
                <a:latin typeface="+mn-lt"/>
                <a:ea typeface="+mn-ea"/>
                <a:cs typeface="+mn-cs"/>
              </a:rPr>
              <a:t> y </a:t>
            </a:r>
            <a:r>
              <a:rPr lang="en-US" sz="1500" i="1" kern="1200" err="1">
                <a:effectLst/>
                <a:latin typeface="+mn-lt"/>
                <a:ea typeface="+mn-ea"/>
                <a:cs typeface="+mn-cs"/>
              </a:rPr>
              <a:t>posteriormente</a:t>
            </a:r>
            <a:r>
              <a:rPr lang="en-US" sz="1500" i="1" kern="1200"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500" i="1" kern="1200" err="1">
                <a:effectLst/>
                <a:latin typeface="+mn-lt"/>
                <a:ea typeface="+mn-ea"/>
                <a:cs typeface="+mn-cs"/>
              </a:rPr>
              <a:t>contraseña</a:t>
            </a:r>
            <a:r>
              <a:rPr lang="en-US" sz="1500" i="1" kern="1200"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>
              <a:lnSpc>
                <a:spcPct val="100000"/>
              </a:lnSpc>
            </a:pPr>
            <a:endParaRPr lang="es-MX" sz="1500"/>
          </a:p>
        </p:txBody>
      </p:sp>
      <p:pic>
        <p:nvPicPr>
          <p:cNvPr id="4" name="Imagen 3" descr="Interfaz de usuario gráfica, Aplicación, Sitio web, Teams&#10;&#10;Descripción generada automáticamente">
            <a:extLst>
              <a:ext uri="{FF2B5EF4-FFF2-40B4-BE49-F238E27FC236}">
                <a16:creationId xmlns:a16="http://schemas.microsoft.com/office/drawing/2014/main" id="{C2096A48-46C2-6E98-151F-78AB3FFCBD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46" r="13768" b="2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97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2AFC08-355B-0562-63E5-6F5035515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es-MX" sz="4000"/>
              <a:t>Menú Acronis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1AF55A-DF56-29E9-AF94-6C7660981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es-MX" dirty="0"/>
              <a:t>En panel de opciones, ubicado en el lado izquierdo de la pantalla, ubicamos la opción de “Dispositivos”.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8D62E9CB-3480-4EFA-A4BB-F1A4899C14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513" b="-2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27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33C6D2-F8BD-366E-D5C0-BCE4E9DBE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7"/>
            <a:ext cx="3462236" cy="29474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dirty="0" err="1"/>
              <a:t>Configuracion</a:t>
            </a:r>
            <a:r>
              <a:rPr lang="en-US" sz="3700" dirty="0"/>
              <a:t> del </a:t>
            </a:r>
            <a:r>
              <a:rPr lang="en-US" sz="3700" dirty="0" err="1"/>
              <a:t>dispositivo</a:t>
            </a:r>
            <a:endParaRPr lang="en-US" sz="37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D0DF13-B651-12EB-1ACC-ECF61D1B3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67" y="4482450"/>
            <a:ext cx="3462236" cy="17240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Una vez ubicados en la opción de dispositivos, seleccionamos “Consultora 27”.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9778F479-27BB-9DC1-1931-5476922D7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704" y="2451358"/>
            <a:ext cx="7293594" cy="3683265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0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474F86-1E93-9FCF-5A73-4B51A073C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dirty="0"/>
              <a:t>Configuración del dispositivo</a:t>
            </a:r>
            <a:endParaRPr lang="es-MX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1A42BB3B-5830-5453-165C-928B4E5AA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3142221"/>
            <a:ext cx="6281928" cy="320378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B547E7-BEE9-763B-004A-1A566685C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s-MX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continuación, nos muestra en pantalla el dispositivo en donde se habilito la licencia, hay que activar la casilla (como se muestra en la imagen) para habilitar el menú de </a:t>
            </a:r>
            <a:r>
              <a:rPr lang="es-MX" b="1" i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“Acciones”</a:t>
            </a:r>
            <a:r>
              <a:rPr lang="es-MX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seleccionamos </a:t>
            </a:r>
            <a:r>
              <a:rPr lang="es-MX" b="1" i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“Proteger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92545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CBDF14-631A-48FD-774F-61C1323E8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7"/>
            <a:ext cx="3462236" cy="29474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Agregar plan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4D4C9D-E8E7-7DA1-C9F8-943B575AC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67" y="4482450"/>
            <a:ext cx="3462236" cy="17240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la opción de proteger, clic en </a:t>
            </a:r>
            <a:r>
              <a:rPr lang="en-US" sz="2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“Agregar plan”</a:t>
            </a:r>
            <a:r>
              <a:rPr lang="en-US" sz="2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0" name="Rectangle 3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nterfaz de usuario gráfica, Aplicación, Word&#10;&#10;Descripción generada automáticamente">
            <a:extLst>
              <a:ext uri="{FF2B5EF4-FFF2-40B4-BE49-F238E27FC236}">
                <a16:creationId xmlns:a16="http://schemas.microsoft.com/office/drawing/2014/main" id="{E187B86A-3B41-D2B7-3E5B-29843D4F5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704" y="2451358"/>
            <a:ext cx="7293594" cy="3683265"/>
          </a:xfrm>
          <a:prstGeom prst="rect">
            <a:avLst/>
          </a:prstGeom>
        </p:spPr>
      </p:pic>
      <p:sp>
        <p:nvSpPr>
          <p:cNvPr id="41" name="Rectangle 35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02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48FA62-E73A-BC97-2A42-FDC36AA2F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Crear plan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70EF43-EFBC-D502-CB04-A91FC9EE6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68" y="4214945"/>
            <a:ext cx="3566453" cy="1741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 en </a:t>
            </a:r>
            <a:r>
              <a:rPr lang="en-US" sz="2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“Crear plan”</a:t>
            </a:r>
            <a:r>
              <a:rPr lang="en-US" sz="2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22" name="Freeform: Shape 14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AC3A16AD-7732-7DE0-4DA1-F0BC30B7E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616" y="1000768"/>
            <a:ext cx="7105445" cy="4956048"/>
          </a:xfrm>
          <a:prstGeom prst="rect">
            <a:avLst/>
          </a:prstGeom>
        </p:spPr>
      </p:pic>
      <p:sp>
        <p:nvSpPr>
          <p:cNvPr id="23" name="Freeform: Shape 16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58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D6FC0A-DEBE-247B-809D-35777BECB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effectLst/>
              </a:rPr>
              <a:t>Clic en </a:t>
            </a:r>
            <a:r>
              <a:rPr lang="en-US" i="1">
                <a:effectLst/>
              </a:rPr>
              <a:t>“Protección”</a:t>
            </a:r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0EC6804E-3C34-0CAD-AE87-7CF8C8F75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616" y="1000768"/>
            <a:ext cx="7105445" cy="4956048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57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D2DB49-19BA-8B78-FF39-2569D6EB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es-MX" sz="4000"/>
              <a:t>Nombre del plan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72EB29-2948-4368-9DE0-B4330ABC4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 deseamos cambiar el nombre del plan, solo hacemos clic en el lápiz señalado con la flecha de color naranja.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9B025E95-342A-0960-8930-2AA90BEE3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37" r="4870" b="-1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98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74E7C5-EBCF-2CF5-1B6E-41B081556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es-MX" sz="4000"/>
              <a:t>Configurar plan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073D7D-7039-521B-3C7B-FD6AA353E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Vamos a hacer clic en la lista desplegable para habilitar las opciones a respaldar. Lo que nosotros vamos a respaldar son archivos por ende seleccionamos la opción de </a:t>
            </a:r>
            <a:r>
              <a:rPr lang="es-MX" b="1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“Archivos y carpetas”</a:t>
            </a:r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EDA70F9-5D35-CB34-B135-1DB3A41F8F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91" r="-2" b="-2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38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E0D3D3-901F-F6E2-AEFE-E820A17C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es-MX" sz="4000"/>
              <a:t>Configurar plan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6EC9DE-4153-2900-C27D-250ADAA98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 seleccionar la opción de archivos y carpetas, a continuación, se muestra de la siguiente manera, vamos a dar clic en </a:t>
            </a:r>
            <a:r>
              <a:rPr lang="es-MX" b="1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“Especificar”</a:t>
            </a:r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para seleccionar la carpeta a respaldar.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997122C0-B8CF-B2CC-BFDF-391AC8A51F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91" r="2" b="2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84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793917-2BFA-490E-E1E1-FFEC8D90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es-MX" sz="4000"/>
              <a:t>Configurar plan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0CBC1C-A6E3-F317-51B7-280D8492F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Aquí vamos a seleccionar en donde guardar las copias de seguridad, puede ser en la nube, de manera local, o en una unidad de disco duro externo.</a:t>
            </a:r>
          </a:p>
        </p:txBody>
      </p:sp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74981D8-4DBC-8359-E541-B7E313B994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87" r="-1" b="-1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1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FDA95A-7FB0-792A-FD77-1CF5F7C83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es-MX" sz="4000"/>
              <a:t>Configurar plan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E4EA4E-D624-4BC8-9CE1-6796C47F9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Elegimos la carpeta destino, en este caso será el disco duro externo que tiene asignado por el sistema la etiqueta </a:t>
            </a:r>
            <a:r>
              <a:rPr lang="es-MX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“E:”</a:t>
            </a:r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y la información será almacenada en la carpeta de nombre </a:t>
            </a:r>
            <a:r>
              <a:rPr lang="es-MX" b="1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s-MX" b="1" i="1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RespaldoSharepoint</a:t>
            </a:r>
            <a:r>
              <a:rPr lang="es-MX" b="1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5E27FF7-D5DA-E875-AD38-84B326F10E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695" b="2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96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6800F8-28D3-FB33-9E0D-8BCF69522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es-MX" sz="4000" dirty="0"/>
              <a:t>Cifrado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0BD2BC-FCE5-A2D1-99CC-FF60FC23F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Debemos deshabilitamos el cifrado para que no nos pida una contraseña a la hora de abrir el respaldo.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8AE5E9-51BC-36DF-95A5-11CBD43433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48" r="-2" b="-2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786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1A4A4C-77FE-D2C5-6277-4357D7D0F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es-MX" sz="4000" dirty="0"/>
              <a:t>Configurar periodicidad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44A433-E0FF-183B-A1F9-02792FD31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Una vez deshabilitado el cifrado la casilla aparecerá como apagada, el siguiente paso será editar la planificación del plan </a:t>
            </a:r>
            <a:r>
              <a:rPr lang="es-MX" b="1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(Periodicidad)</a:t>
            </a:r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09C3819D-64A1-CF31-CF5F-5075885CF2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3" r="2" b="1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056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8A93B6-D702-FBB2-F1E0-60BF25F0F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s-MX" dirty="0"/>
              <a:t>Configurar periodicidad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5C6456-EE67-1F9D-CD5B-403373A0E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>
            <a:normAutofit/>
          </a:bodyPr>
          <a:lstStyle/>
          <a:p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periodicidad tiene 4 opciones como lo son mensual, semanal, diariamente y cada hora, nosotros vamos a seleccionar la opción de </a:t>
            </a:r>
            <a:r>
              <a:rPr lang="es-MX" b="1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“Mensual”</a:t>
            </a:r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18B4E45-060D-9E37-09DA-3074524FB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668" y="523066"/>
            <a:ext cx="4356461" cy="582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58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9B1242-81C5-A3E0-5FB2-40C5C0B6D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s-MX" dirty="0"/>
              <a:t>Planificación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922E1C-B910-0E51-B4E3-9C2B1ABDB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>
            <a:normAutofit/>
          </a:bodyPr>
          <a:lstStyle/>
          <a:p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Cuando seleccionamos la opción de mensual, el sistema en automático programa el plan de respaldo para que se realice el primero de cada mes, si deseamos cambiar el día a efectuarse el respaldo, hacemos clic en la lista desplegable.</a:t>
            </a:r>
          </a:p>
        </p:txBody>
      </p:sp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3040883-0252-FFBF-341A-786142AB4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668" y="656386"/>
            <a:ext cx="4356461" cy="569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14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8F42BE-34F9-B7B3-6C6F-8CB3551F8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s-MX" dirty="0"/>
              <a:t>Planificación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F7BFD1-76B6-67E3-2988-60CC57960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>
            <a:normAutofit/>
          </a:bodyPr>
          <a:lstStyle/>
          <a:p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Seleccionas el día en el cual deseas programar tu respaldo y haces clic en </a:t>
            </a:r>
            <a:r>
              <a:rPr lang="es-MX" b="1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“Listo”</a:t>
            </a:r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07A24C3-74C6-47E0-2F77-F4BFD1BE7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668" y="637714"/>
            <a:ext cx="4356461" cy="571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330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C62B39-5B72-1E42-A2FE-99A7B7B98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s-MX" dirty="0"/>
              <a:t>Finalizar configuración del plan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87945E-626A-244B-C504-06C3C7ABA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>
            <a:normAutofit/>
          </a:bodyPr>
          <a:lstStyle/>
          <a:p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Una vez finalizado hacemos clic en </a:t>
            </a:r>
            <a:r>
              <a:rPr lang="es-MX" b="1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“Crear”</a:t>
            </a:r>
            <a:r>
              <a:rPr lang="es-MX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con esto quedara programado el plan de respaldos.</a:t>
            </a:r>
          </a:p>
        </p:txBody>
      </p:sp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786BBE1E-E55C-8C50-0D71-11F8C50D8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668" y="2746134"/>
            <a:ext cx="4356461" cy="360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9484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506</Words>
  <Application>Microsoft Office PowerPoint</Application>
  <PresentationFormat>Panorámica</PresentationFormat>
  <Paragraphs>39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Arial</vt:lpstr>
      <vt:lpstr>Bierstadt</vt:lpstr>
      <vt:lpstr>Neue Haas Grotesk Text Pro</vt:lpstr>
      <vt:lpstr>GestaltVTI</vt:lpstr>
      <vt:lpstr>Automatización de respaldos con Acronis Cyber Protect Cloud.</vt:lpstr>
      <vt:lpstr>Inicio de sesión cloud</vt:lpstr>
      <vt:lpstr>Menú Acronis</vt:lpstr>
      <vt:lpstr>Configuracion del dispositivo</vt:lpstr>
      <vt:lpstr>Configuración del dispositivo</vt:lpstr>
      <vt:lpstr>Agregar plan</vt:lpstr>
      <vt:lpstr>Crear plan</vt:lpstr>
      <vt:lpstr>Clic en “Protección”</vt:lpstr>
      <vt:lpstr>Nombre del plan</vt:lpstr>
      <vt:lpstr>Configurar plan</vt:lpstr>
      <vt:lpstr>Configurar plan</vt:lpstr>
      <vt:lpstr>Configurar plan</vt:lpstr>
      <vt:lpstr>Configurar plan</vt:lpstr>
      <vt:lpstr>Cifrado</vt:lpstr>
      <vt:lpstr>Configurar periodicidad</vt:lpstr>
      <vt:lpstr>Configurar periodicidad</vt:lpstr>
      <vt:lpstr>Planificación </vt:lpstr>
      <vt:lpstr>Planificación </vt:lpstr>
      <vt:lpstr>Finalizar configuración del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Automatización de respaldos con Acronis Cyber Protect Cloud.</dc:title>
  <dc:creator>Christopher Rodriguez</dc:creator>
  <cp:lastModifiedBy>Christopher Rodriguez</cp:lastModifiedBy>
  <cp:revision>1</cp:revision>
  <dcterms:created xsi:type="dcterms:W3CDTF">2026-05-15T17:00:50Z</dcterms:created>
  <dcterms:modified xsi:type="dcterms:W3CDTF">2026-05-15T22:50:14Z</dcterms:modified>
</cp:coreProperties>
</file>